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MarketStream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多源流式金融趋势与异常检测分析平台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18288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阶段汇报  —  2026年5月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南洋理工大学 毕业设计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84632" cy="237744"/>
          </a:xfrm>
          <a:prstGeom prst="rect">
            <a:avLst/>
          </a:prstGeom>
          <a:solidFill>
            <a:srgbClr val="0EA5E9">
              <a:alpha val="5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问题陈述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658368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41732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金融市场持续产生高速数据流——价格、成交量、新闻情绪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8229600" cy="658368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19456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异常事件（闪崩、拉高出货）若未及时检测，会造成严重损失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8229600" cy="658368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632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97180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批处理分析存在危险的延迟——等分析出结果时，事件已经过去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7200" y="3794760"/>
            <a:ext cx="54864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2"/>
          <p:cNvSpPr/>
          <p:nvPr/>
        </p:nvSpPr>
        <p:spPr>
          <a:xfrm>
            <a:off x="73152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研究问题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异构流式集成检测器能否在实时环境下检测金融异常，并适应市场环境的变化？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84632" cy="237744"/>
          </a:xfrm>
          <a:prstGeom prst="rect">
            <a:avLst/>
          </a:prstGeom>
          <a:solidFill>
            <a:srgbClr val="0EA5E9">
              <a:alpha val="5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系统架构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00" dirty="0"/>
          </a:p>
        </p:txBody>
      </p:sp>
      <p:pic>
        <p:nvPicPr>
          <p:cNvPr id="6" name="Image 0" descr="/Users/ywx/Documents/NTU/capstone_project/docs/figure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8623" y="1234440"/>
            <a:ext cx="5666753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429000"/>
            <a:ext cx="4023360" cy="64008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3429000"/>
            <a:ext cx="45720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Kappa 优于 Lambda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721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单一处理路径——无需维护双套代码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3429000"/>
            <a:ext cx="4023360" cy="64008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3429000"/>
            <a:ext cx="45720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Kafka KRaft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3721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无需 Zookeeper；持久化、可重放的事件日志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4178808"/>
            <a:ext cx="4023360" cy="64008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4178808"/>
            <a:ext cx="45720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224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Quix Streams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4471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Python 原生；与 ML 代码无跨语言边界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4178808"/>
            <a:ext cx="4023360" cy="64008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4178808"/>
            <a:ext cx="45720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4224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TimescaleDB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46320" y="4471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 SQL + JSON + 超表时序分区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84632" cy="237744"/>
          </a:xfrm>
          <a:prstGeom prst="rect">
            <a:avLst/>
          </a:prstGeom>
          <a:solidFill>
            <a:srgbClr val="0EA5E9">
              <a:alpha val="5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集成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集成设计：互补检测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1965960" cy="256032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1920240" cy="4572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087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EWMA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Weight: </a:t>
            </a:r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0.40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捕捉突然的单特征尖峰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22960" y="3291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自适应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14600" y="1325880"/>
            <a:ext cx="1965960" cy="256032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14600" y="1325880"/>
            <a:ext cx="1920240" cy="45720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50876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0604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半空间树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606040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Weight: </a:t>
            </a:r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0.05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65176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捕捉多变量交互异常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017520" y="3291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自适应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709160" y="1325880"/>
            <a:ext cx="1965960" cy="256032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09160" y="1325880"/>
            <a:ext cx="1920240" cy="4572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50876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0060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孤立森林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800600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Weight: </a:t>
            </a:r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0.45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84632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从历史中发现全局离群点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5212080" y="3291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批处理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6903720" y="1325880"/>
            <a:ext cx="1965960" cy="256032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903720" y="1325880"/>
            <a:ext cx="1920240" cy="45720"/>
          </a:xfrm>
          <a:prstGeom prst="rect">
            <a:avLst/>
          </a:prstGeom>
          <a:solidFill>
            <a:srgbClr val="7DD3FC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50876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9516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LSTM 自编码器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995160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Weight: </a:t>
            </a:r>
            <a:pPr algn="ctr" indent="0" marL="0">
              <a:buNone/>
            </a:pPr>
            <a:r>
              <a:rPr lang="en-US" sz="1000" b="1" dirty="0">
                <a:solidFill>
                  <a:srgbClr val="7DD3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0.10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04088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捕捉时间序列模式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7406640" y="3291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批处理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57200" y="4160520"/>
            <a:ext cx="457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0"/>
          <p:cNvSpPr/>
          <p:nvPr/>
        </p:nvSpPr>
        <p:spPr>
          <a:xfrm>
            <a:off x="685800" y="4160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没有任何单一检测器能覆盖所有异常类型。分数归一化至 [-1, 0]；阈值 = -0.28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84632" cy="237744"/>
          </a:xfrm>
          <a:prstGeom prst="rect">
            <a:avLst/>
          </a:prstGeom>
          <a:solidFill>
            <a:srgbClr val="0EA5E9">
              <a:alpha val="5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挑战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关键挑战：分数不兼容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228600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归一化前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EWMA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737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[-40, 0]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1737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无界 z-score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LSTM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[-100, 0]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 MSE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孤立森林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[+0.1, +0.2]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2560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决策函数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971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[-0.3, 0]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2971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树分数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1280160"/>
            <a:ext cx="4114800" cy="228600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717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62%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475488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误报率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8.35%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67512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精确率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2788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EWMA 的无界 z-score 主导了集成加权平均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794760"/>
            <a:ext cx="45720" cy="9144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解决方案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4114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将所有检测器归一化至 [-1, 0] 范围。根据单独性能重新分配权重。集成学习文献 (Zimek et al. 2014) 警告过分数不兼容问题，但未提供领域特定的解决方案——需要经验性诊断。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84632" cy="237744"/>
          </a:xfrm>
          <a:prstGeom prst="rect">
            <a:avLst/>
          </a:prstGeom>
          <a:solidFill>
            <a:srgbClr val="0EA5E9">
              <a:alpha val="5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回测结果：优化前后对比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011680" cy="182880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0116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17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精确率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8.35%  →  46.38%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5.5×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提升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14600" y="1280160"/>
            <a:ext cx="2011680" cy="182880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280160"/>
            <a:ext cx="201168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417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F1 分数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0.154  →  0.561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3.6×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0320" y="2468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提升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09160" y="1280160"/>
            <a:ext cx="2011680" cy="182880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280160"/>
            <a:ext cx="20116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417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误报率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62.0%  →  4.64%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13.4× 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2468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降低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903720" y="1280160"/>
            <a:ext cx="2011680" cy="182880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03720" y="1280160"/>
            <a:ext cx="2011680" cy="36576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1417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Cohen's 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0.51  →  1.78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494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3.5×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2468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提升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291840"/>
            <a:ext cx="8229600" cy="141732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按异常类型的召回率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7033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情绪崩溃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194560" y="3721608"/>
            <a:ext cx="5943600" cy="128016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34" name="Shape 32"/>
          <p:cNvSpPr/>
          <p:nvPr/>
        </p:nvSpPr>
        <p:spPr>
          <a:xfrm>
            <a:off x="2194560" y="3721608"/>
            <a:ext cx="5943600" cy="12801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36941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0080" y="38862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成交量激增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194560" y="3904488"/>
            <a:ext cx="5943600" cy="128016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38" name="Shape 36"/>
          <p:cNvSpPr/>
          <p:nvPr/>
        </p:nvSpPr>
        <p:spPr>
          <a:xfrm>
            <a:off x="2194560" y="3904488"/>
            <a:ext cx="4732889" cy="12801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9" name="Text 37"/>
          <p:cNvSpPr/>
          <p:nvPr/>
        </p:nvSpPr>
        <p:spPr>
          <a:xfrm>
            <a:off x="7018889" y="38770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0080" y="40690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多特征异常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194560" y="4087368"/>
            <a:ext cx="5943600" cy="128016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42" name="Shape 40"/>
          <p:cNvSpPr/>
          <p:nvPr/>
        </p:nvSpPr>
        <p:spPr>
          <a:xfrm>
            <a:off x="2194560" y="4087368"/>
            <a:ext cx="4016091" cy="12801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3" name="Text 41"/>
          <p:cNvSpPr/>
          <p:nvPr/>
        </p:nvSpPr>
        <p:spPr>
          <a:xfrm>
            <a:off x="6302091" y="40599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68%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0080" y="42519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价格尖峰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194560" y="4270248"/>
            <a:ext cx="5943600" cy="128016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46" name="Shape 44"/>
          <p:cNvSpPr/>
          <p:nvPr/>
        </p:nvSpPr>
        <p:spPr>
          <a:xfrm>
            <a:off x="2194560" y="4270248"/>
            <a:ext cx="3264819" cy="12801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7" name="Text 45"/>
          <p:cNvSpPr/>
          <p:nvPr/>
        </p:nvSpPr>
        <p:spPr>
          <a:xfrm>
            <a:off x="5550819" y="4242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55%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0080" y="44348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微妙漂移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194560" y="4453128"/>
            <a:ext cx="5943600" cy="128016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50" name="Shape 48"/>
          <p:cNvSpPr/>
          <p:nvPr/>
        </p:nvSpPr>
        <p:spPr>
          <a:xfrm>
            <a:off x="2194560" y="4453128"/>
            <a:ext cx="1981002" cy="12801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1" name="Text 49"/>
          <p:cNvSpPr/>
          <p:nvPr/>
        </p:nvSpPr>
        <p:spPr>
          <a:xfrm>
            <a:off x="4267002" y="44256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33%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84632" cy="237744"/>
          </a:xfrm>
          <a:prstGeom prst="rect">
            <a:avLst/>
          </a:prstGeom>
          <a:solidFill>
            <a:srgbClr val="0EA5E9">
              <a:alpha val="5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为何集成 &gt; 任何单一检测器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18872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检测器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精确率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召回率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F1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检测数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EWMA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23.1%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82.7%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0.36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804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半空间树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4.2%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30.7%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0.07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1,650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孤立森林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49.3%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47.1%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0.48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215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LSTM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5.6%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36.4%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0.10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1,469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集成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46.4%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71.1%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0.56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345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520440"/>
            <a:ext cx="2651760" cy="109728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6118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EWMA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9436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高召回率哨兵——能抓到大多数事件，但误报多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91840" y="3520440"/>
            <a:ext cx="2651760" cy="109728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6118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4048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孤立森林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42900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高精确率确认者——保守，验证明确的离群值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126480" y="3520440"/>
            <a:ext cx="2651760" cy="109728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6118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7512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集成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26364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精确率优于任何单一检测器 + 召回率高于孤立森林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0" cy="237744"/>
          </a:xfrm>
          <a:prstGeom prst="rect">
            <a:avLst/>
          </a:prstGeom>
          <a:solidFill>
            <a:srgbClr val="0EA5E9">
              <a:alpha val="5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MLOPS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适应非平稳市场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645920" cy="100584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37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检测到的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漂移事件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0" y="1280160"/>
            <a:ext cx="1645920" cy="100584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7744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88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37744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窗口延迟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（成交量）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0" y="1280160"/>
            <a:ext cx="1645920" cy="100584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0624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182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20624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窗口延迟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（情绪）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60720" y="1280160"/>
            <a:ext cx="2926080" cy="100584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9788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四层自适应策略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97880" y="15727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即时: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EWMA 指数衰减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173736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短期: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HST 滑动窗口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97880" y="190195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中期: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ADWIN 统计检验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97880" y="206654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长期: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孤立森林重训 + 版本管理</a:t>
            </a:r>
            <a:endParaRPr lang="en-US" sz="800" dirty="0"/>
          </a:p>
        </p:txBody>
      </p:sp>
      <p:pic>
        <p:nvPicPr>
          <p:cNvPr id="21" name="Image 0" descr="/Users/ywx/Documents/NTU/capstone_project/Figure/dashboard_model_healt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514600"/>
            <a:ext cx="822960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96112" cy="237744"/>
          </a:xfrm>
          <a:prstGeom prst="rect">
            <a:avLst/>
          </a:prstGeom>
          <a:solidFill>
            <a:srgbClr val="0EA5E9">
              <a:alpha val="5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 VS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人类的优势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45720" cy="658368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3502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243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上下文解读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14996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标记「分数 = -0.45」；人类知道 TSLA 下跌是因为 CEO 推文还是财报不及预期——不同原因需要不同应对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1956816"/>
            <a:ext cx="8229600" cy="658368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956816"/>
            <a:ext cx="45720" cy="658368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2011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误报裁决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43000" y="22677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精确率 46%，超过一半的警报是误报。人类立即能识别「这是正常的季末调仓」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2724912"/>
            <a:ext cx="8229600" cy="658368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724912"/>
            <a:ext cx="45720" cy="658368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71216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27797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真值定义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43000" y="3035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「异常」取决于角色——风控经理（尾部事件）、合规官（可疑模式）、交易员（机会）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57200" y="3493008"/>
            <a:ext cx="8229600" cy="658368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3493008"/>
            <a:ext cx="45720" cy="658368"/>
          </a:xfrm>
          <a:prstGeom prst="rect">
            <a:avLst/>
          </a:prstGeom>
          <a:solidFill>
            <a:srgbClr val="7DD3F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3931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3547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特征与分类体系设计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43000" y="38039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 sentiment_shift 作为特征，需要领域知识理解新闻如何随时间影响市场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57200" y="4261104"/>
            <a:ext cx="8229600" cy="658368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7200" y="4261104"/>
            <a:ext cx="45720" cy="658368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07408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43000" y="4315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因果推理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143000" y="4572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检测统计相关性；人类理解因果机制和市场微观结构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96112" cy="237744"/>
          </a:xfrm>
          <a:prstGeom prst="rect">
            <a:avLst/>
          </a:prstGeom>
          <a:solidFill>
            <a:srgbClr val="0EA5E9">
              <a:alpha val="5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 VS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AI 的价值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105156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持续关注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6733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7×24 监控 3 只股票，每小时每只 12 个特征窗口。人的注意力会衰退，系统不会。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3931920" cy="105156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517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多维模式识别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88720" y="2907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同时考虑价格 + 成交量 + 情绪 + 交叉特征交互，人类只能依次处理。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72000" y="1280160"/>
            <a:ext cx="3931920" cy="105156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173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0352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客观性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303520" y="16733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对每个数据点应用相同评分标准。没有锚定偏差、近因效应或疲劳。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572000" y="2514600"/>
            <a:ext cx="3931920" cy="105156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65176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0352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适应速度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303520" y="2907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EWMA 和 HST 在窗口参数内适应新的市场环境，比人类更新心智模型更快。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57200" y="3840480"/>
            <a:ext cx="8229600" cy="45720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2336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5448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人 + AI  &gt;  仅人  &gt;  仅 AI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1554480" y="4343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系统是增强工具，不是自主代理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237744"/>
          </a:xfrm>
          <a:prstGeom prst="rect">
            <a:avLst/>
          </a:prstGeom>
          <a:solidFill>
            <a:srgbClr val="0EA5E9">
              <a:alpha val="5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仪表盘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为人类解读而设计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900" dirty="0"/>
          </a:p>
        </p:txBody>
      </p:sp>
      <p:pic>
        <p:nvPicPr>
          <p:cNvPr id="6" name="Image 0" descr="/Users/ywx/Documents/NTU/capstone_project/Figure/dashboard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3532197" cy="164592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pic>
      <p:pic>
        <p:nvPicPr>
          <p:cNvPr id="7" name="Image 1" descr="/Users/ywx/Documents/NTU/capstone_project/Figure/dashboard_anomaly_ale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3532197" cy="164592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457200" y="3246120"/>
            <a:ext cx="4572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3200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逐检测器分数分解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4008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查看哪些检测器一致（强信号）还是不一致（不确定）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" y="3931920"/>
            <a:ext cx="4572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3886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人类可读的异常原因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4008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「价格变动 3.12%，情绪偏移 -0.41」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3246120"/>
            <a:ext cx="4572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1"/>
          <p:cNvSpPr/>
          <p:nvPr/>
        </p:nvSpPr>
        <p:spPr>
          <a:xfrm>
            <a:off x="4754880" y="3200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漂移事件时间线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75488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实时识别市场环境变化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0" y="3931920"/>
            <a:ext cx="4572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4"/>
          <p:cNvSpPr/>
          <p:nvPr/>
        </p:nvSpPr>
        <p:spPr>
          <a:xfrm>
            <a:off x="4754880" y="3886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5-10秒自动刷新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75488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无需手动轮询的实时监控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237744"/>
          </a:xfrm>
          <a:prstGeom prst="rect">
            <a:avLst/>
          </a:prstGeom>
          <a:solidFill>
            <a:srgbClr val="0EA5E9">
              <a:alpha val="5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局限性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当前局限性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621792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45720" cy="6217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280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仅合成数据验证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527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所有评估使用注入的异常，未对真实历史事件（财报、闪崩）进行测试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621792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65960"/>
            <a:ext cx="45720" cy="6217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011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单独检测器较弱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258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HST（4.2% 精确率）和 LSTM（5.6% 精确率）——其集成贡献尚未通过消融实验正式量化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8229600" cy="621792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97480"/>
            <a:ext cx="45720" cy="6217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743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微妙漂移检测不足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990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渐进分布变化的召回率仅 33%——系统错过大部分缓慢变化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621792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29000"/>
            <a:ext cx="45720" cy="6217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34747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合成情绪数据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721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回测情绪使用随机正态分布，非真实历史标题——NLP 价值未得到证明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8229600" cy="621792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160520"/>
            <a:ext cx="45720" cy="6217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251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7280" y="4206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无延迟基准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4453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「实时」声明尚未通过端到端计时测量进行量化验证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237744"/>
          </a:xfrm>
          <a:prstGeom prst="rect">
            <a:avLst/>
          </a:prstGeom>
          <a:solidFill>
            <a:srgbClr val="0EA5E9">
              <a:alpha val="5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路线图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下一步（六至七月）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00584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371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历史事件验证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 TSLA 财报、NVDA 暴涨、2025年3月回调进行测试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05840" y="19933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A5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真实世界证据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100584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173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371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消融实验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21208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种检测器组合（4+6+4+1）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212080" y="19933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A5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证明复杂度的必要性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7200" y="2468880"/>
            <a:ext cx="4023360" cy="100584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060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2560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情绪影响分析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00584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对比有/无 FinBERT 特征的检测效果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05840" y="31821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A5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量化 NLP 价值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663440" y="2468880"/>
            <a:ext cx="4023360" cy="100584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6060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12080" y="2560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阈值敏感性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21208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精确率-召回率曲线 [-0.15 至 -0.50]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212080" y="31821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A5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优化权衡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57200" y="3657600"/>
            <a:ext cx="4023360" cy="100584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947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延迟基准测试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005840" y="4023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端到端计时：数据到达 → 仪表盘警报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05840" y="43708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A5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证明实时性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663440" y="3657600"/>
            <a:ext cx="4023360" cy="100584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79476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1208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漂移恢复测试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212080" y="4023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模型重训前后的检测性能对比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5212080" y="43708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A5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 MLOps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237744"/>
          </a:xfrm>
          <a:prstGeom prst="rect">
            <a:avLst/>
          </a:prstGeom>
          <a:solidFill>
            <a:srgbClr val="0EA5E9">
              <a:alpha val="5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路线图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完成路线图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901952"/>
            <a:ext cx="7680960" cy="54864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792224"/>
            <a:ext cx="274320" cy="274320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051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第一阶段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基础设施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1–3月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898648" y="1792224"/>
            <a:ext cx="274320" cy="274320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2487168" y="1051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第二阶段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集成检测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78608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4–5月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91456" y="1764792"/>
            <a:ext cx="329184" cy="329184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407408" y="1051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第三阶段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评估验证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98848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6–7月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03797" y="1810512"/>
            <a:ext cx="237744" cy="237744"/>
          </a:xfrm>
          <a:prstGeom prst="oval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6174029" y="1051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第四阶段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论文撰写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65469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8–9月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293608" y="1810512"/>
            <a:ext cx="237744" cy="237744"/>
          </a:xfrm>
          <a:prstGeom prst="oval">
            <a:avLst/>
          </a:prstGeom>
          <a:solidFill>
            <a:srgbClr val="F87171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1051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截止日期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0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2026年11月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1520" y="1883664"/>
            <a:ext cx="3456432" cy="914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Shape 21"/>
          <p:cNvSpPr/>
          <p:nvPr/>
        </p:nvSpPr>
        <p:spPr>
          <a:xfrm>
            <a:off x="4187952" y="1883664"/>
            <a:ext cx="768096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407408" y="2468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▲ 当前位置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743200"/>
            <a:ext cx="3931920" cy="192024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已完成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108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流式管道（Kafka + Quix）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3101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检测器集成 + 加权投票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35112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FinBERT 情绪集成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37124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ADWIN 漂移检测 + 重训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39136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页 Streamlit 仪表盘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41148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62 个单元测试（全部通过）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43159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文献综述（40+ 篇参考文献）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743200"/>
            <a:ext cx="3931920" cy="1920240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3776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待完成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37760" y="3108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○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历史事件验证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37760" y="33101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○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消融实验（15 种组合）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35112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○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情绪影响分析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37760" y="37124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○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阈值敏感性曲线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7760" y="39136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○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端到端延迟基准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37760" y="41148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○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毕业论文 + 答辩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37760" y="43159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○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现场演示优化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总结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658368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45720" cy="65836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35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可运行的流式集成系统，具有量化结果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7190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F1 = 0.56，误报率 = 4.6%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7680960" cy="658368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148840"/>
            <a:ext cx="45720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128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研究贡献：流式环境中异构检测器的集成方法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49631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检测器 + 漂移自适应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7680960" cy="658368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926080"/>
            <a:ext cx="45720" cy="658368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9900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人机互补：通过仪表盘设计实现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273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增强工具，非自主替代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703320"/>
            <a:ext cx="7680960" cy="658368"/>
          </a:xfrm>
          <a:prstGeom prst="rect">
            <a:avLst/>
          </a:prstGeom>
          <a:solidFill>
            <a:srgbClr val="0F2035"/>
          </a:solidFill>
          <a:ln w="6350">
            <a:solidFill>
              <a:srgbClr val="1A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703320"/>
            <a:ext cx="45720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7673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明确的路线图与具体交付物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0507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距提交还有 4 个月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谢谢  /  提问环节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MarketStream Progress Report — May 2026</dc:title>
  <dc:subject>PptxGenJS Presentation</dc:subject>
  <dc:creator>MarketStream Team</dc:creator>
  <cp:lastModifiedBy>MarketStream Team</cp:lastModifiedBy>
  <cp:revision>1</cp:revision>
  <dcterms:created xsi:type="dcterms:W3CDTF">2026-05-15T11:32:52Z</dcterms:created>
  <dcterms:modified xsi:type="dcterms:W3CDTF">2026-05-15T11:32:52Z</dcterms:modified>
</cp:coreProperties>
</file>